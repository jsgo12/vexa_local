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143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[JOSUÉ] Buenas tardes profesor. Somos Josué García, Ignacio López y Héctor Schulz, y venimos a presentarles Vexa Local: un asistente de inteligencia artificial que responde preguntas sobre los documentos internos de una empresa, sin que esa información salga nunca de la organización. Les vamos a mostrar el problema real que resuelve, cómo se vería usándolo, y cómo lo vamos a construir durante el semestre.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[JOSUÉ] Imaginemos un estudio jurídico con miles de contratos. Un abogado necesita saber qué dice la cláusula 12 de un contrato firmado hace dos años, y revisar carpeta por carpeta le puede tomar horas. Su primer instinto sería preguntarle a ChatGPT, pero no puede: esos documentos son confidenciales, protegidos por el secreto profesional y por la Ley 19.628 de Protección de la Vida Privada. Lo mismo pasa en una clínica con fichas de pacientes, o en un banco con contratos financieros. Enviar esa información a un servidor externo es un riesgo legal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[IGNACIO] Ahí es donde entra Vexa Local: funciona como ChatGPT, pero nunca sale de la empresa. El colaborador simplemente escribe su pregunta como si le hablara a una persona, no tiene que usar palabras clave. El sistema responde indicando exactamente de qué documento y de qué parte sacó la información, para que se pueda verificar. Y todo esto corre en un computador o servidor dentro de la misma organización, sin conexión a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[IGNACIO] Para que quede más claro, así se vería en la práctica. A la izquierda el usuario ve los documentos que la empresa cargó al sistema: contratos, políticas, fichas clínicas. A la derecha hay una conversación tipo chat: el usuario pregunta por la cláusula de término anticipado del contrato de arriendo, y el sistema responde con el contenido exacto, citando la página del documento de origen. Esta es una interfaz conceptual; el diseño final se definirá durante el desarrollo, pero la lógica de funcionamiento es 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[HÉCTOR] Surge la pregunta obvia: ¿por qué no usar simplemente ChatGPT? La diferencia está en dónde procesa los datos. ChatGPT los envía a servidores externos; Vexa Local los procesa dentro de la empresa. Eso significa que puede trabajar con documentos confidenciales sin exponerlos, está diseñado para cumplir con la Ley 19.628 y el secreto profesional, funciona sin conexión a internet, y al estar construido con tecnología abierta, no requiere pagar licencias mensuales.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[HÉCTOR] Esto se traduce en cuatro beneficios concretos para una organización real: ahorra horas de búsqueda manual, porque encuentra información en segundos; evita cualquier fuga de datos sensibles, porque la información nunca sale de la infraestructura de la empresa; ayuda al cumplimiento normativo del rubro; y no tiene costos de licencias, lo que lo hace accesible incluso para pequeñas y medianas empresas que hoy quedan fuera de las soluciones de IA empresarial certificadas.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[JOSUÉ] En este proyecto de título nuestro objetivo es construir una primera versión funcional de Vexa Local. Para lograrlo vamos a seguir tres pasos: primero, entender el problema e investigar qué tecnologías de IA local existen y cuáles se ajustan mejor; segundo, construir el prototipo con ingesta de documentos, búsqueda semántica y respuestas citando la fuente; y tercero, probarlo y verificar con evidencia técnica que efectivamente no se conecta a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[HÉCTOR] Todo esto lo trabajaremos en un semestre, en tres etapas. Ahora estamos en la etapa de definición: elegir tecnología, diseñar la arquitectura y preparar los documentos de prueba. Luego viene la etapa de desarrollo, donde construimos el sistema completo. Y cerramos con la etapa de pruebas y presentación, donde verificamos que el sistema es privado y seguro, medimos resultados y se lo mostramos funcionando. Cada uno de nosotros lidera tareas específicas dentro de este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[TODOS] En resumen, Vexa Local busca llevar las capacidades de la inteligencia artificial generativa a organizaciones que hoy no pueden usarla, porque manejan información que no puede salir de sus manos. Muchas gracias por su atención, quedamos disponibles para responder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06240"/>
            <a:ext cx="3657600" cy="3657600"/>
          </a:xfrm>
          <a:prstGeom prst="ellipse">
            <a:avLst/>
          </a:prstGeom>
          <a:solidFill>
            <a:srgbClr val="252C6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85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FASE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Vexa Local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de IA que responde tus documentos, sin que salgan nunca de tu empresa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" y="4297680"/>
            <a:ext cx="4023360" cy="0"/>
          </a:xfrm>
          <a:prstGeom prst="line">
            <a:avLst/>
          </a:prstGeom>
          <a:noFill/>
          <a:ln w="12700">
            <a:solidFill>
              <a:srgbClr val="3C45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Josué García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López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08192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Héctor Schulz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Informática · Duoc UC, Sede Alameda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Imagina un estudio jurídico con miles de contratos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abogado necesita saber, ahora mismo, qué dice la cláusula 12 de un contrato firmado hace dos años. Revisar carpeta por carpeta le toma horas.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primer instinto sería preguntarle a </a:t>
            </a:r>
            <a:r>
              <a:rPr lang="en-US" sz="1500" dirty="0" smtClean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</a:t>
            </a:r>
            <a:r>
              <a:rPr lang="en-US" sz="1500" dirty="0" smtClean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</a:t>
            </a:r>
            <a:r>
              <a:rPr lang="en-US" sz="15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no puede: esos documentos son confidenciales, protegidos por secreto profesional y por la Ley 19.628.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mismo pasa en clínicas con fichas de pacientes, y en bancos con contratos financieros.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1828800"/>
            <a:ext cx="49377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0" y="2240280"/>
            <a:ext cx="1097280" cy="1097280"/>
          </a:xfrm>
          <a:prstGeom prst="ellipse">
            <a:avLst/>
          </a:prstGeom>
          <a:solidFill>
            <a:srgbClr val="E8EB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0" y="2240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9006840" y="3063240"/>
            <a:ext cx="502920" cy="502920"/>
          </a:xfrm>
          <a:prstGeom prst="ellipse">
            <a:avLst/>
          </a:prstGeom>
          <a:solidFill>
            <a:srgbClr val="E155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068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703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Nube pública = riesgo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4160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contratos y fichas clínicas a servidores externos puede violar la Ley 19.628 y el secreto profesional.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Proyecto APT · Fase 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Vexa Local: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</a:t>
            </a:r>
            <a:r>
              <a:rPr lang="en-US" sz="3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IA</a:t>
            </a:r>
            <a:r>
              <a:rPr lang="en-US" sz="3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 que nunca sale de tu empresa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conversacional que lee los documentos internos de la organización y responde preguntas en lenguaje natural — funcionando 100% dentro de la empresa, sin internet.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154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Preguntas, no búsquedas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519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colaborador escribe su pregunta como si le hablara a una persona, no palabras clave.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8803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3154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840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la fuente exacta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2519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indica de qué documento y en qué parte se sacó la información.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8803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3154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840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sale de la empresa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2519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en un computador o servidor local: cero conexión a internet.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Proyecto APT · Fase 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vería usándolo en una empresa real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77800" dist="508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105156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11680"/>
            <a:ext cx="105156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947672"/>
            <a:ext cx="128016" cy="128016"/>
          </a:xfrm>
          <a:prstGeom prst="ellipse">
            <a:avLst/>
          </a:prstGeom>
          <a:solidFill>
            <a:srgbClr val="E15554"/>
          </a:solidFill>
          <a:ln/>
        </p:spPr>
      </p:sp>
      <p:sp>
        <p:nvSpPr>
          <p:cNvPr id="9" name="Shape 7"/>
          <p:cNvSpPr/>
          <p:nvPr/>
        </p:nvSpPr>
        <p:spPr>
          <a:xfrm>
            <a:off x="1307592" y="1947672"/>
            <a:ext cx="128016" cy="12801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1563624" y="1947672"/>
            <a:ext cx="128016" cy="128016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11680" y="1783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Asistente de documentos internos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240280"/>
            <a:ext cx="2743200" cy="4114800"/>
          </a:xfrm>
          <a:prstGeom prst="rect">
            <a:avLst/>
          </a:prstGeom>
          <a:solidFill>
            <a:srgbClr val="F1F3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15568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CARGADOS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" y="283464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E4E9F7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294436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08760" y="2834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Contrato_Arriendo.pdf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" y="3401568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351129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08760" y="34015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Politica_Seguridad.docx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51560" y="3968496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407822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508760" y="39684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Ficha_Clinica_003.pdf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1560" y="4535424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464515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508760" y="45354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Reglamento_Interno.pdf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86600" y="2606040"/>
            <a:ext cx="3931920" cy="566928"/>
          </a:xfrm>
          <a:prstGeom prst="roundRect">
            <a:avLst>
              <a:gd name="adj" fmla="val 22581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69480" y="26060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cláusula de término anticipado del contrato de arriendo?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86200" y="3447288"/>
            <a:ext cx="6035040" cy="1417320"/>
          </a:xfrm>
          <a:prstGeom prst="roundRect">
            <a:avLst>
              <a:gd name="adj" fmla="val 9032"/>
            </a:avLst>
          </a:prstGeom>
          <a:solidFill>
            <a:srgbClr val="F1F3FA"/>
          </a:solidFill>
          <a:ln w="9525">
            <a:solidFill>
              <a:srgbClr val="E3E7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0" y="36118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cláusula 12 establece que cualquiera de las partes puede poner término anticipado con un aviso previo de 60 días y sin multa asociada.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0" y="4453128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DCED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251960" y="44531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Fuente: Contrato_Arriendo.pdf · pág. 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86200" y="5760720"/>
            <a:ext cx="713232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D8DD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14800" y="57607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 pregunta...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652760" y="5797296"/>
            <a:ext cx="338328" cy="3383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652760" y="579729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conceptual — el diseño final se define durante el desarrollo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Proyecto APT · Fase 1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3880" y="9464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no simplemente usar ChatGPT?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206240" cy="621792"/>
          </a:xfrm>
          <a:prstGeom prst="rect">
            <a:avLst/>
          </a:prstGeom>
          <a:solidFill>
            <a:srgbClr val="F5F7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74520"/>
            <a:ext cx="3429000" cy="621792"/>
          </a:xfrm>
          <a:prstGeom prst="rect">
            <a:avLst/>
          </a:prstGeom>
          <a:solidFill>
            <a:srgbClr val="EFE0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87452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IA en la nube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83880" y="1874520"/>
            <a:ext cx="3429000" cy="621792"/>
          </a:xfrm>
          <a:prstGeom prst="rect">
            <a:avLst/>
          </a:prstGeom>
          <a:solidFill>
            <a:srgbClr val="DCED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87452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4206240" cy="621792"/>
          </a:xfrm>
          <a:prstGeom prst="rect">
            <a:avLst/>
          </a:prstGeom>
          <a:solidFill>
            <a:srgbClr val="F1F3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49631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procesa los datos?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496312"/>
            <a:ext cx="3429000" cy="621792"/>
          </a:xfrm>
          <a:prstGeom prst="rect">
            <a:avLst/>
          </a:prstGeom>
          <a:solidFill>
            <a:srgbClr val="FBF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49631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servidores externos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2496312"/>
            <a:ext cx="3429000" cy="621792"/>
          </a:xfrm>
          <a:prstGeom prst="rect">
            <a:avLst/>
          </a:prstGeom>
          <a:solidFill>
            <a:srgbClr val="F1FA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49631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2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la empresa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118104"/>
            <a:ext cx="4206240" cy="621792"/>
          </a:xfrm>
          <a:prstGeom prst="rect">
            <a:avLst/>
          </a:prstGeom>
          <a:solidFill>
            <a:srgbClr val="F1F3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11810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ver documentos confidenciales?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3118104"/>
            <a:ext cx="3429000" cy="621792"/>
          </a:xfrm>
          <a:prstGeom prst="rect">
            <a:avLst/>
          </a:prstGeom>
          <a:solidFill>
            <a:srgbClr val="FBF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11810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Riesgoso — quedan expuestos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83880" y="3118104"/>
            <a:ext cx="3429000" cy="621792"/>
          </a:xfrm>
          <a:prstGeom prst="rect">
            <a:avLst/>
          </a:prstGeom>
          <a:solidFill>
            <a:srgbClr val="F1FA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311810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2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con seguridad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739896"/>
            <a:ext cx="4206240" cy="621792"/>
          </a:xfrm>
          <a:prstGeom prst="rect">
            <a:avLst/>
          </a:prstGeom>
          <a:solidFill>
            <a:srgbClr val="F1F3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73989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¿Cumple Ley 19.628 / secreto profesional?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3739896"/>
            <a:ext cx="3429000" cy="621792"/>
          </a:xfrm>
          <a:prstGeom prst="rect">
            <a:avLst/>
          </a:prstGeom>
          <a:solidFill>
            <a:srgbClr val="FBF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373989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garantizar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83880" y="3739896"/>
            <a:ext cx="3429000" cy="621792"/>
          </a:xfrm>
          <a:prstGeom prst="rect">
            <a:avLst/>
          </a:prstGeom>
          <a:solidFill>
            <a:srgbClr val="F1FA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66760" y="373989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2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cumplirlo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361688"/>
            <a:ext cx="4206240" cy="621792"/>
          </a:xfrm>
          <a:prstGeom prst="rect">
            <a:avLst/>
          </a:prstGeom>
          <a:solidFill>
            <a:srgbClr val="F1F3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3616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¿Funciona sin internet?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4361688"/>
            <a:ext cx="3429000" cy="621792"/>
          </a:xfrm>
          <a:prstGeom prst="rect">
            <a:avLst/>
          </a:prstGeom>
          <a:solidFill>
            <a:srgbClr val="FBF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43616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83880" y="4361688"/>
            <a:ext cx="3429000" cy="621792"/>
          </a:xfrm>
          <a:prstGeom prst="rect">
            <a:avLst/>
          </a:prstGeom>
          <a:solidFill>
            <a:srgbClr val="F1FA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66760" y="43616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2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983480"/>
            <a:ext cx="4206240" cy="621792"/>
          </a:xfrm>
          <a:prstGeom prst="rect">
            <a:avLst/>
          </a:prstGeom>
          <a:solidFill>
            <a:srgbClr val="F1F3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49834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¿Costo de licencias en la nube?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54880" y="4983480"/>
            <a:ext cx="3429000" cy="621792"/>
          </a:xfrm>
          <a:prstGeom prst="rect">
            <a:avLst/>
          </a:prstGeom>
          <a:solidFill>
            <a:srgbClr val="FBF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37760" y="498348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183880" y="4983480"/>
            <a:ext cx="3429000" cy="621792"/>
          </a:xfrm>
          <a:prstGeom prst="rect">
            <a:avLst/>
          </a:prstGeom>
          <a:solidFill>
            <a:srgbClr val="F1FA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66760" y="498348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127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libre, sin licencias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Proyecto APT · Fase 1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le entrega a una organización real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52C6B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4231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Ahorra horas de búsqueda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862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información en segundos en vez de revisar carpetas manualmente.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52C6B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9312" y="24231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931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154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fuga de datos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8862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sensible nunca sale de la infraestructura de la organización.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52C6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3952" y="24231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395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154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normativo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8862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 con la Ley 19.628 y el secreto profesional del rubro.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52C6B"/>
          </a:solidFill>
          <a:ln/>
        </p:spPr>
      </p:sp>
      <p:sp>
        <p:nvSpPr>
          <p:cNvPr id="22" name="Shape 20"/>
          <p:cNvSpPr/>
          <p:nvPr/>
        </p:nvSpPr>
        <p:spPr>
          <a:xfrm>
            <a:off x="9308592" y="24231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0859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3154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costos de licencia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8862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con tecnología abierta y gratuita, accesible para pymes.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Proyecto APT · Fase 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DE TÍTULO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construir nosotros, en concreto?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objetivo es diseñar e implementar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primera versión funcional</a:t>
            </a:r>
            <a:r>
              <a:rPr lang="en-US" sz="16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Vexa Local: un sistema que carga documentos PDF y Word, entiende preguntas en lenguaje natural y responde citando la fuente — operando 100% local, probado con documentos ficticios para resguardar la confidencialidad.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el problema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qué tecnologías locales de IA existen y cuáles se ajustan.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324612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160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el prototipo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5720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de documentos, búsqueda semántica y respuestas con fuente.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324612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35204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160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Probarlo y verificarlo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5720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precisión y confirmar, con evidencia técnica, que no sale a internet.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Proyecto APT · Fase 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semestre, tres etapas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proyecto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tecnología, diseñar la arquitectura y preparar documentos de prueba.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60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Vexa Local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6576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el sistema completo: carga de documentos, búsqueda y chat con respuestas.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9659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141A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560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Probarlo y presentarlo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6576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es privado y seguro, medir resultados y mostrar el sistema funcionando.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 por Josué, Ignacio y Héctor, cada uno a cargo de tareas específicas dentro del plan de trabajo individual del portafolio de título.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Proyecto APT · Fase 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560320"/>
            <a:ext cx="5943600" cy="5943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931920"/>
            <a:ext cx="4572000" cy="4572000"/>
          </a:xfrm>
          <a:prstGeom prst="ellipse">
            <a:avLst/>
          </a:prstGeom>
          <a:solidFill>
            <a:srgbClr val="252C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el asistente de IA que se queda dentro de tu empresa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" y="4069080"/>
            <a:ext cx="4023360" cy="0"/>
          </a:xfrm>
          <a:prstGeom prst="line">
            <a:avLst/>
          </a:prstGeom>
          <a:noFill/>
          <a:ln w="12700">
            <a:solidFill>
              <a:srgbClr val="3C45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Josué García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López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08192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Héctor Schulz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5394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1544</Words>
  <Application>Microsoft Office PowerPoint</Application>
  <PresentationFormat>Panorámica</PresentationFormat>
  <Paragraphs>140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Eduardo Antonio López Ríos</cp:lastModifiedBy>
  <cp:revision>2</cp:revision>
  <dcterms:created xsi:type="dcterms:W3CDTF">2026-08-26T18:24:06Z</dcterms:created>
  <dcterms:modified xsi:type="dcterms:W3CDTF">2026-08-27T00:59:14Z</dcterms:modified>
</cp:coreProperties>
</file>