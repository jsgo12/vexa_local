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B9D9E834-56A5-4FD6-30E0-DF0EFD9198E1}">
          <p14:sldIdLst>
            <p14:sldId id="256"/>
          </p14:sldIdLst>
        </p14:section>
        <p14:section name="Resultado" id="{5C12468D-E678-B736-A43C-2836E65A0550}">
          <p14:sldIdLst>
            <p14:sldId id="257"/>
          </p14:sldIdLst>
        </p14:section>
        <p14:section name="Solución" id="{96F4CD1A-71BE-A898-2AFD-C3932013D3F5}">
          <p14:sldIdLst>
            <p14:sldId id="258"/>
            <p14:sldId id="259"/>
            <p14:sldId id="260"/>
            <p14:sldId id="261"/>
          </p14:sldIdLst>
        </p14:section>
        <p14:section name="Seguimiento" id="{FD9802EA-46F5-0560-B097-8C2C9C49BB0D}">
          <p14:sldIdLst>
            <p14:sldId id="262"/>
            <p14:sldId id="263"/>
            <p14:sldId id="264"/>
          </p14:sldIdLst>
        </p14:section>
        <p14:section name="Cierre" id="{63CFE10B-83EC-73E0-CC86-5A93C3E68AE4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9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256-4884-AD0A-EE4872C5FF7F}"/>
              </c:ext>
            </c:extLst>
          </c:dPt>
          <c:dPt>
            <c:idx val="1"/>
            <c:bubble3D val="0"/>
            <c:spPr>
              <a:solidFill>
                <a:srgbClr val="F2C14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256-4884-AD0A-EE4872C5FF7F}"/>
              </c:ext>
            </c:extLst>
          </c:dPt>
          <c:dPt>
            <c:idx val="2"/>
            <c:bubble3D val="0"/>
            <c:spPr>
              <a:solidFill>
                <a:srgbClr val="E15554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3256-4884-AD0A-EE4872C5FF7F}"/>
              </c:ext>
            </c:extLst>
          </c:dPt>
          <c:dLbls>
            <c:dLbl>
              <c:idx val="0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3256-4884-AD0A-EE4872C5FF7F}"/>
                </c:ext>
              </c:extLst>
            </c:dLbl>
            <c:dLbl>
              <c:idx val="1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3256-4884-AD0A-EE4872C5FF7F}"/>
                </c:ext>
              </c:extLst>
            </c:dLbl>
            <c:dLbl>
              <c:idx val="2"/>
              <c:layout/>
              <c:numFmt formatCode="General" sourceLinked="0"/>
              <c:spPr/>
              <c:txPr>
                <a:bodyPr/>
                <a:lstStyle/>
                <a:p>
                  <a:pPr>
                    <a:defRPr sz="16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  <a:endParaRPr lang="es-C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3256-4884-AD0A-EE4872C5FF7F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Completadas</c:v>
                </c:pt>
                <c:pt idx="1">
                  <c:v>En curso</c:v>
                </c:pt>
                <c:pt idx="2">
                  <c:v>Pendientes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256-4884-AD0A-EE4872C5FF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1B1F3B"/>
              </a:solidFill>
              <a:latin typeface="+mn-lt"/>
              <a:cs typeface="+mn-lt"/>
            </a:defRPr>
          </a:pPr>
          <a:endParaRPr lang="es-CL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718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avance de la Fase 2: pasamos de definir Vexa Local a tener un prototipo funcional de escritorio que funciona 100% de forma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cifras resumen el avance: seis formatos de documento, dos roles con permisos distintos y operación totalmente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 abre la ventana e inicia Flask en una dirección local con un puerto libre. Flask valida sesión y rol. Los datos viven en la carpeta .vexa_local del usuario. Ollama corre también en el mismo equipo.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recorrido de una pregunta. La parte semántica es opcional: requiere el modelo bge-m3 instalado en Ollama.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acceso se controla por rol y asignación. Los plazos del caso se registran, pero no equivalen todavía a notificaciones externas ni recordatorios por calendario.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lo presentamos como medida de protección del prototipo, no como una certificación de seguridad para expedientes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Todos los ajustes se justifican por viabilidad técnica y por el caso de uso jurídico. Mantenemos el objetivo general de la Fase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Conteo según el plan de trabajo del documento 2.4: 10 completadas, 3 en curso (empaquetado, pruebas e informe final) y 2 pendientes (verificación de privacidad y evaluación).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estas limitaciones con honestidad refuerza la credibilidad del proyecto y define el camino de mejora.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tres puntos cierran la evidencia que pide el informe final: privacidad verificada, métricas y ejecutable probado.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Proyecto APT · Fase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NT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Proyecto APT · Fase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822960" y="128016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FASE 2</a:t>
            </a: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Vexa Local</a:t>
            </a:r>
            <a:endParaRPr lang="en-US" sz="5400" dirty="0"/>
          </a:p>
        </p:txBody>
      </p:sp>
      <p:sp>
        <p:nvSpPr>
          <p:cNvPr id="5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diseño a un prototipo funcional: asistente de IA local para consultar expedientes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Héctor Schulz   ·   Ignacio López   ·   Josué García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Informática · Duoc UC, sede Alameda · Capstone</a:t>
            </a:r>
            <a:endParaRPr lang="en-US" sz="1300" dirty="0"/>
          </a:p>
        </p:txBody>
      </p:sp>
      <p:sp>
        <p:nvSpPr>
          <p:cNvPr id="8" name="Decoración"/>
          <p:cNvSpPr/>
          <p:nvPr/>
        </p:nvSpPr>
        <p:spPr>
          <a:xfrm>
            <a:off x="8778240" y="-1097280"/>
            <a:ext cx="5029200" cy="5029200"/>
          </a:xfrm>
          <a:prstGeom prst="ellipse">
            <a:avLst/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9" name="Decoración"/>
          <p:cNvSpPr/>
          <p:nvPr/>
        </p:nvSpPr>
        <p:spPr>
          <a:xfrm>
            <a:off x="10058400" y="4480560"/>
            <a:ext cx="3657600" cy="3657600"/>
          </a:xfrm>
          <a:prstGeom prst="ellipse">
            <a:avLst/>
          </a:prstGeom>
          <a:solidFill>
            <a:srgbClr val="252C6B"/>
          </a:solidFill>
          <a:ln w="12700">
            <a:solidFill>
              <a:srgbClr val="252C6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640080" y="274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FASE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definición a un prototipo funcional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 abogados necesita consultar sus expedientes sin revisar cada archivo, y sin enviar información a la nube. En esta fase construimos el asistente que lo permite.</a:t>
            </a:r>
            <a:endParaRPr lang="en-US" sz="1800" dirty="0"/>
          </a:p>
        </p:txBody>
      </p:sp>
      <p:sp>
        <p:nvSpPr>
          <p:cNvPr id="6" name="Tarjeta formatos de documento"/>
          <p:cNvSpPr/>
          <p:nvPr/>
        </p:nvSpPr>
        <p:spPr>
          <a:xfrm>
            <a:off x="640080" y="278892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formatos de documen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documento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XLSX, PPTX, TXT y CSV, con OCR opcional</a:t>
            </a:r>
            <a:endParaRPr lang="en-US" sz="1400" dirty="0"/>
          </a:p>
        </p:txBody>
      </p:sp>
      <p:sp>
        <p:nvSpPr>
          <p:cNvPr id="11" name="Tarjeta roles de usuario"/>
          <p:cNvSpPr/>
          <p:nvPr/>
        </p:nvSpPr>
        <p:spPr>
          <a:xfrm>
            <a:off x="4370832" y="278892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1" descr="roles de usuar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30175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45152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14" name="Text 10"/>
          <p:cNvSpPr txBox="1"/>
          <p:nvPr/>
        </p:nvSpPr>
        <p:spPr>
          <a:xfrm>
            <a:off x="4645152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4645152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y abogado, con acceso según asignación</a:t>
            </a:r>
            <a:endParaRPr lang="en-US" sz="1400" dirty="0"/>
          </a:p>
        </p:txBody>
      </p:sp>
      <p:sp>
        <p:nvSpPr>
          <p:cNvPr id="16" name="Tarjeta local"/>
          <p:cNvSpPr/>
          <p:nvPr/>
        </p:nvSpPr>
        <p:spPr>
          <a:xfrm>
            <a:off x="8101584" y="2788920"/>
            <a:ext cx="3474720" cy="3017520"/>
          </a:xfrm>
          <a:prstGeom prst="roundRect">
            <a:avLst>
              <a:gd name="adj" fmla="val 3030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2" descr="loca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30175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75904" y="35204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00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4434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75904" y="4846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modelo en el computador del usuario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640080" y="274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está construido</a:t>
            </a:r>
            <a:endParaRPr lang="en-US" sz="3400" dirty="0"/>
          </a:p>
        </p:txBody>
      </p:sp>
      <p:sp>
        <p:nvSpPr>
          <p:cNvPr id="5" name="Componente Electron"/>
          <p:cNvSpPr/>
          <p:nvPr/>
        </p:nvSpPr>
        <p:spPr>
          <a:xfrm>
            <a:off x="640080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Círculo ícono"/>
          <p:cNvSpPr/>
          <p:nvPr/>
        </p:nvSpPr>
        <p:spPr>
          <a:xfrm>
            <a:off x="1298448" y="2331720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Electr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896" y="24871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5661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escritorio con la interfaz web</a:t>
            </a:r>
            <a:endParaRPr lang="en-US" sz="1400" dirty="0"/>
          </a:p>
        </p:txBody>
      </p:sp>
      <p:pic>
        <p:nvPicPr>
          <p:cNvPr id="10" name="Image 1" descr="flech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3429000"/>
            <a:ext cx="182880" cy="182880"/>
          </a:xfrm>
          <a:prstGeom prst="rect">
            <a:avLst/>
          </a:prstGeom>
        </p:spPr>
      </p:pic>
      <p:sp>
        <p:nvSpPr>
          <p:cNvPr id="11" name="Componente Flask"/>
          <p:cNvSpPr/>
          <p:nvPr/>
        </p:nvSpPr>
        <p:spPr>
          <a:xfrm>
            <a:off x="2889504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Círculo ícono"/>
          <p:cNvSpPr/>
          <p:nvPr/>
        </p:nvSpPr>
        <p:spPr>
          <a:xfrm>
            <a:off x="3547872" y="2331720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3" name="Image 2" descr="Flas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248716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80944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3026664" y="35661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127.0.0.1: sesión, roles y permisos</a:t>
            </a:r>
            <a:endParaRPr lang="en-US" sz="1400" dirty="0"/>
          </a:p>
        </p:txBody>
      </p:sp>
      <p:pic>
        <p:nvPicPr>
          <p:cNvPr id="16" name="Image 3" descr="flech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3429000"/>
            <a:ext cx="182880" cy="182880"/>
          </a:xfrm>
          <a:prstGeom prst="rect">
            <a:avLst/>
          </a:prstGeom>
        </p:spPr>
      </p:pic>
      <p:sp>
        <p:nvSpPr>
          <p:cNvPr id="17" name="Componente SQLite + archivos"/>
          <p:cNvSpPr/>
          <p:nvPr/>
        </p:nvSpPr>
        <p:spPr>
          <a:xfrm>
            <a:off x="5138928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Círculo ícono"/>
          <p:cNvSpPr/>
          <p:nvPr/>
        </p:nvSpPr>
        <p:spPr>
          <a:xfrm>
            <a:off x="5797296" y="2331720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9" name="Image 4" descr="SQLite + archivo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248716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230368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archivos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5276088" y="35661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casos y metadatos; contenido cifrado</a:t>
            </a:r>
            <a:endParaRPr lang="en-US" sz="1400" dirty="0"/>
          </a:p>
        </p:txBody>
      </p:sp>
      <p:pic>
        <p:nvPicPr>
          <p:cNvPr id="22" name="Image 5" descr="flech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3429000"/>
            <a:ext cx="182880" cy="182880"/>
          </a:xfrm>
          <a:prstGeom prst="rect">
            <a:avLst/>
          </a:prstGeom>
        </p:spPr>
      </p:pic>
      <p:sp>
        <p:nvSpPr>
          <p:cNvPr id="23" name="Componente Motor RAG"/>
          <p:cNvSpPr/>
          <p:nvPr/>
        </p:nvSpPr>
        <p:spPr>
          <a:xfrm>
            <a:off x="7388352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Círculo ícono"/>
          <p:cNvSpPr/>
          <p:nvPr/>
        </p:nvSpPr>
        <p:spPr>
          <a:xfrm>
            <a:off x="8046720" y="2331720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5" name="Image 6" descr="Motor RA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168" y="2487168"/>
            <a:ext cx="347472" cy="34747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479792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RAG</a:t>
            </a:r>
            <a:endParaRPr lang="en-US" sz="1700" dirty="0"/>
          </a:p>
        </p:txBody>
      </p:sp>
      <p:sp>
        <p:nvSpPr>
          <p:cNvPr id="27" name="Text 18"/>
          <p:cNvSpPr txBox="1"/>
          <p:nvPr/>
        </p:nvSpPr>
        <p:spPr>
          <a:xfrm>
            <a:off x="7525512" y="35661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y búsqueda semántica opcional (bge-m3)</a:t>
            </a:r>
            <a:endParaRPr lang="en-US" sz="1400" dirty="0"/>
          </a:p>
        </p:txBody>
      </p:sp>
      <p:pic>
        <p:nvPicPr>
          <p:cNvPr id="28" name="Image 7" descr="flech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0032" y="3429000"/>
            <a:ext cx="182880" cy="182880"/>
          </a:xfrm>
          <a:prstGeom prst="rect">
            <a:avLst/>
          </a:prstGeom>
        </p:spPr>
      </p:pic>
      <p:sp>
        <p:nvSpPr>
          <p:cNvPr id="29" name="Componente Ollama"/>
          <p:cNvSpPr/>
          <p:nvPr/>
        </p:nvSpPr>
        <p:spPr>
          <a:xfrm>
            <a:off x="9637776" y="2103120"/>
            <a:ext cx="1965960" cy="283464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Círculo ícono"/>
          <p:cNvSpPr/>
          <p:nvPr/>
        </p:nvSpPr>
        <p:spPr>
          <a:xfrm>
            <a:off x="10296144" y="2331720"/>
            <a:ext cx="658368" cy="6583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1" name="Image 8" descr="Ollam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1592" y="2487168"/>
            <a:ext cx="347472" cy="34747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9729216" y="3154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700" dirty="0"/>
          </a:p>
        </p:txBody>
      </p:sp>
      <p:sp>
        <p:nvSpPr>
          <p:cNvPr id="33" name="Text 22"/>
          <p:cNvSpPr txBox="1"/>
          <p:nvPr/>
        </p:nvSpPr>
        <p:spPr>
          <a:xfrm>
            <a:off x="9774936" y="35661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local genera la respuesta</a:t>
            </a:r>
            <a:endParaRPr lang="en-US" sz="1400" dirty="0"/>
          </a:p>
        </p:txBody>
      </p:sp>
      <p:sp>
        <p:nvSpPr>
          <p:cNvPr id="34" name="Mensaje clave"/>
          <p:cNvSpPr/>
          <p:nvPr/>
        </p:nvSpPr>
        <p:spPr>
          <a:xfrm>
            <a:off x="640080" y="53035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24"/>
          <p:cNvSpPr txBox="1"/>
          <p:nvPr/>
        </p:nvSpPr>
        <p:spPr>
          <a:xfrm>
            <a:off x="914400" y="53035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corre en el computador del usuario. La verificación formal con análisis de tráfico de red es parte de nuestros pendientes.</a:t>
            </a:r>
            <a:endParaRPr lang="en-US" sz="16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640080" y="274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pasa cuando un abogado pregunta</a:t>
            </a:r>
            <a:endParaRPr lang="en-US" sz="3400" dirty="0"/>
          </a:p>
        </p:txBody>
      </p:sp>
      <p:sp>
        <p:nvSpPr>
          <p:cNvPr id="5" name="Paso 1"/>
          <p:cNvSpPr/>
          <p:nvPr/>
        </p:nvSpPr>
        <p:spPr>
          <a:xfrm>
            <a:off x="640080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Número"/>
          <p:cNvSpPr/>
          <p:nvPr/>
        </p:nvSpPr>
        <p:spPr>
          <a:xfrm>
            <a:off x="822960" y="21031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sube el documento a un caso (hasta 30 MB).</a:t>
            </a:r>
            <a:endParaRPr lang="en-US" sz="1400" dirty="0"/>
          </a:p>
        </p:txBody>
      </p:sp>
      <p:sp>
        <p:nvSpPr>
          <p:cNvPr id="10" name="Paso 2"/>
          <p:cNvSpPr/>
          <p:nvPr/>
        </p:nvSpPr>
        <p:spPr>
          <a:xfrm>
            <a:off x="2889504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Número"/>
          <p:cNvSpPr/>
          <p:nvPr/>
        </p:nvSpPr>
        <p:spPr>
          <a:xfrm>
            <a:off x="3072384" y="21031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7238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072384" y="324612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segundo plano: texto, fragmentos e índice. Un hash evita reprocesar.</a:t>
            </a:r>
            <a:endParaRPr lang="en-US" sz="1400" dirty="0"/>
          </a:p>
        </p:txBody>
      </p:sp>
      <p:sp>
        <p:nvSpPr>
          <p:cNvPr id="15" name="Paso 3"/>
          <p:cNvSpPr/>
          <p:nvPr/>
        </p:nvSpPr>
        <p:spPr>
          <a:xfrm>
            <a:off x="5138928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Número"/>
          <p:cNvSpPr/>
          <p:nvPr/>
        </p:nvSpPr>
        <p:spPr>
          <a:xfrm>
            <a:off x="5321808" y="21031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2180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321808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321808" y="324612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busca palabras, nombres y números; la semántica, por significado.</a:t>
            </a:r>
            <a:endParaRPr lang="en-US" sz="1400" dirty="0"/>
          </a:p>
        </p:txBody>
      </p:sp>
      <p:sp>
        <p:nvSpPr>
          <p:cNvPr id="20" name="Paso 4"/>
          <p:cNvSpPr/>
          <p:nvPr/>
        </p:nvSpPr>
        <p:spPr>
          <a:xfrm>
            <a:off x="7388352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Número"/>
          <p:cNvSpPr/>
          <p:nvPr/>
        </p:nvSpPr>
        <p:spPr>
          <a:xfrm>
            <a:off x="7571232" y="21031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7123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571232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571232" y="324612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fusionan los resultados y se arma el contexto pertinente.</a:t>
            </a:r>
            <a:endParaRPr lang="en-US" sz="1400" dirty="0"/>
          </a:p>
        </p:txBody>
      </p:sp>
      <p:sp>
        <p:nvSpPr>
          <p:cNvPr id="25" name="Paso 5"/>
          <p:cNvSpPr/>
          <p:nvPr/>
        </p:nvSpPr>
        <p:spPr>
          <a:xfrm>
            <a:off x="9637776" y="1920240"/>
            <a:ext cx="2011680" cy="33832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Número"/>
          <p:cNvSpPr/>
          <p:nvPr/>
        </p:nvSpPr>
        <p:spPr>
          <a:xfrm>
            <a:off x="9820656" y="210312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82065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820656" y="2834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9820656" y="324612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responde en streaming y muestra las fuentes.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respuestas se basan solo en los fragmentos recuperados, por eso siempre se puede verificar la fuente.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640080" y="274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roles, un mismo expediente</a:t>
            </a:r>
            <a:endParaRPr lang="en-US" sz="3400" dirty="0"/>
          </a:p>
        </p:txBody>
      </p:sp>
      <p:sp>
        <p:nvSpPr>
          <p:cNvPr id="5" name="Rol Administrador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Círculo ícono"/>
          <p:cNvSpPr/>
          <p:nvPr/>
        </p:nvSpPr>
        <p:spPr>
          <a:xfrm>
            <a:off x="960120" y="210312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Administrado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225856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Administrador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cuentas de abogados y equipos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casos con descripción y fecha límite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documentos a cada caso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el caso a un abogado o a un equipo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 archivos desde una carpeta vigilada</a:t>
            </a:r>
            <a:endParaRPr lang="en-US" sz="1600" dirty="0"/>
          </a:p>
        </p:txBody>
      </p:sp>
      <p:sp>
        <p:nvSpPr>
          <p:cNvPr id="10" name="Rol Abogado"/>
          <p:cNvSpPr/>
          <p:nvPr/>
        </p:nvSpPr>
        <p:spPr>
          <a:xfrm>
            <a:off x="621792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Círculo ícono"/>
          <p:cNvSpPr/>
          <p:nvPr/>
        </p:nvSpPr>
        <p:spPr>
          <a:xfrm>
            <a:off x="6537960" y="210312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2" name="Image 1" descr="Abogad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25856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6092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Abogado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29718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solo los casos que le fueron asignados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los documentos del expediente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con la IA sobre el caso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respuestas con referencias a las fuentes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por asignación directa o por su equipo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640080" y="274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Protección de la información</a:t>
            </a:r>
            <a:endParaRPr lang="en-US" sz="3400" dirty="0"/>
          </a:p>
        </p:txBody>
      </p:sp>
      <p:sp>
        <p:nvSpPr>
          <p:cNvPr id="5" name="Control Contraseñas con hash"/>
          <p:cNvSpPr/>
          <p:nvPr/>
        </p:nvSpPr>
        <p:spPr>
          <a:xfrm>
            <a:off x="640080" y="18288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</p:spPr>
      </p:sp>
      <p:sp>
        <p:nvSpPr>
          <p:cNvPr id="6" name="Círculo ícono"/>
          <p:cNvSpPr/>
          <p:nvPr/>
        </p:nvSpPr>
        <p:spPr>
          <a:xfrm>
            <a:off x="914400" y="210312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0" descr="Contraseñas con has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258568"/>
            <a:ext cx="283464" cy="2834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2103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hash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guardan en texto plano.</a:t>
            </a:r>
            <a:endParaRPr lang="en-US" sz="1500" dirty="0"/>
          </a:p>
        </p:txBody>
      </p:sp>
      <p:sp>
        <p:nvSpPr>
          <p:cNvPr id="10" name="Control Permisos por rol y caso"/>
          <p:cNvSpPr/>
          <p:nvPr/>
        </p:nvSpPr>
        <p:spPr>
          <a:xfrm>
            <a:off x="6217920" y="18288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</p:spPr>
      </p:sp>
      <p:sp>
        <p:nvSpPr>
          <p:cNvPr id="11" name="Círculo ícono"/>
          <p:cNvSpPr/>
          <p:nvPr/>
        </p:nvSpPr>
        <p:spPr>
          <a:xfrm>
            <a:off x="6492240" y="210312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2" name="Image 1" descr="Permisos por rol y cas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2258568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315200" y="21031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por rol y caso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6492240" y="2834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de administración solo para administradores; cada caso se abre solo si está asignado.</a:t>
            </a:r>
            <a:endParaRPr lang="en-US" sz="1500" dirty="0"/>
          </a:p>
        </p:txBody>
      </p:sp>
      <p:sp>
        <p:nvSpPr>
          <p:cNvPr id="15" name="Control Cifrado en reposo"/>
          <p:cNvSpPr/>
          <p:nvPr/>
        </p:nvSpPr>
        <p:spPr>
          <a:xfrm>
            <a:off x="640080" y="39776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</p:spPr>
      </p:sp>
      <p:sp>
        <p:nvSpPr>
          <p:cNvPr id="16" name="Círculo ícono"/>
          <p:cNvSpPr/>
          <p:nvPr/>
        </p:nvSpPr>
        <p:spPr>
          <a:xfrm>
            <a:off x="914400" y="42519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2" descr="Cifrado en repos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4407408"/>
            <a:ext cx="283464" cy="28346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4251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en reposo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4983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de los documentos se cifra. Algunos metadatos (nombres, títulos) aún no.</a:t>
            </a:r>
            <a:endParaRPr lang="en-US" sz="1500" dirty="0"/>
          </a:p>
        </p:txBody>
      </p:sp>
      <p:sp>
        <p:nvSpPr>
          <p:cNvPr id="20" name="Control Ejecución local"/>
          <p:cNvSpPr/>
          <p:nvPr/>
        </p:nvSpPr>
        <p:spPr>
          <a:xfrm>
            <a:off x="6217920" y="39776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</p:spPr>
      </p:sp>
      <p:sp>
        <p:nvSpPr>
          <p:cNvPr id="21" name="Círculo ícono"/>
          <p:cNvSpPr/>
          <p:nvPr/>
        </p:nvSpPr>
        <p:spPr>
          <a:xfrm>
            <a:off x="6492240" y="4251960"/>
            <a:ext cx="594360" cy="5943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3" descr="Ejecución loc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4407408"/>
            <a:ext cx="283464" cy="28346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15200" y="425196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local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6492240" y="49834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 127.0.0.1 y modelo en el mismo equipo; no hay servidor central.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640080" y="274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cambió y por qué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en la Fase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 en la Fase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Escritorio e interfaz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A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PyWebView / Streamlit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 + interfaz web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y datos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A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ChromaDB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+ SQLite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Recuperación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A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BM25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+ semántica opcional (bge-m3)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A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único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Usuarios con rol y casos asignados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A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y Word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formatos + OCR opcional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Empaquetado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5A60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PyInstaller + electron-builder/NSIS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A6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común: una aplicación instalable es más simple de distribuir a usuarios no técnicos y refleja cómo trabaja un estudio jurídico.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640080" y="274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DEL PLAN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de 15 actividades completadas</a:t>
            </a:r>
            <a:endParaRPr lang="en-US" sz="34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1737360"/>
          <a:ext cx="47548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Estado Completado"/>
          <p:cNvSpPr/>
          <p:nvPr/>
        </p:nvSpPr>
        <p:spPr>
          <a:xfrm>
            <a:off x="5943600" y="182880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</p:spPr>
      </p:sp>
      <p:sp>
        <p:nvSpPr>
          <p:cNvPr id="7" name="Indicador"/>
          <p:cNvSpPr/>
          <p:nvPr/>
        </p:nvSpPr>
        <p:spPr>
          <a:xfrm>
            <a:off x="6172200" y="2286000"/>
            <a:ext cx="274320" cy="2743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29400" y="19385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629400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multiformato, recuperación híbrida, pipeline RAG, gestión de casos, interfaz, seguridad y carpeta vigilada</a:t>
            </a:r>
            <a:endParaRPr lang="en-US" sz="1400" dirty="0"/>
          </a:p>
        </p:txBody>
      </p:sp>
      <p:sp>
        <p:nvSpPr>
          <p:cNvPr id="10" name="Estado En curso"/>
          <p:cNvSpPr/>
          <p:nvPr/>
        </p:nvSpPr>
        <p:spPr>
          <a:xfrm>
            <a:off x="5943600" y="324612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</p:spPr>
      </p:sp>
      <p:sp>
        <p:nvSpPr>
          <p:cNvPr id="11" name="Indicador"/>
          <p:cNvSpPr/>
          <p:nvPr/>
        </p:nvSpPr>
        <p:spPr>
          <a:xfrm>
            <a:off x="6172200" y="3703320"/>
            <a:ext cx="274320" cy="274320"/>
          </a:xfrm>
          <a:prstGeom prst="ellipse">
            <a:avLst/>
          </a:prstGeom>
          <a:solidFill>
            <a:srgbClr val="F2C14E"/>
          </a:solidFill>
          <a:ln w="12700">
            <a:solidFill>
              <a:srgbClr val="F2C14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29400" y="3355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6629400" y="3703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Empaquetado del instalador, pruebas automatizadas y funcionales, informe final</a:t>
            </a:r>
            <a:endParaRPr lang="en-US" sz="1400" dirty="0"/>
          </a:p>
        </p:txBody>
      </p:sp>
      <p:sp>
        <p:nvSpPr>
          <p:cNvPr id="14" name="Estado Pendiente"/>
          <p:cNvSpPr/>
          <p:nvPr/>
        </p:nvSpPr>
        <p:spPr>
          <a:xfrm>
            <a:off x="5943600" y="4663440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</p:spPr>
      </p:sp>
      <p:sp>
        <p:nvSpPr>
          <p:cNvPr id="15" name="Indicador"/>
          <p:cNvSpPr/>
          <p:nvPr/>
        </p:nvSpPr>
        <p:spPr>
          <a:xfrm>
            <a:off x="6172200" y="5120640"/>
            <a:ext cx="274320" cy="274320"/>
          </a:xfrm>
          <a:prstGeom prst="ellipse">
            <a:avLst/>
          </a:prstGeom>
          <a:solidFill>
            <a:srgbClr val="E15554"/>
          </a:solidFill>
          <a:ln w="12700">
            <a:solidFill>
              <a:srgbClr val="E1555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29400" y="47731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629400" y="51206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privacidad por tráfico de red y evaluación de precisión y tiempos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640080" y="274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Y LIMITACIONES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prototipo local, y lo decimos con claridad</a:t>
            </a:r>
            <a:endParaRPr lang="en-US" sz="3400" dirty="0"/>
          </a:p>
        </p:txBody>
      </p:sp>
      <p:sp>
        <p:nvSpPr>
          <p:cNvPr id="5" name="Limitación Sin colaboración en red"/>
          <p:cNvSpPr/>
          <p:nvPr/>
        </p:nvSpPr>
        <p:spPr>
          <a:xfrm>
            <a:off x="640080" y="18288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Sin colaboración en 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colaboración en red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equipos de distintos abogados no comparten usuarios, casos ni archivos. Requeriría backend y base de datos centrales.</a:t>
            </a:r>
            <a:endParaRPr lang="en-US" sz="1500" dirty="0"/>
          </a:p>
        </p:txBody>
      </p:sp>
      <p:sp>
        <p:nvSpPr>
          <p:cNvPr id="9" name="Limitación Cifrado parcial"/>
          <p:cNvSpPr/>
          <p:nvPr/>
        </p:nvSpPr>
        <p:spPr>
          <a:xfrm>
            <a:off x="6217920" y="182880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Cifrado parcia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040880" y="2057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parcial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6974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cifra el contenido; algunos metadatos de SQLite no. No es una certificación para expedientes reales.</a:t>
            </a:r>
            <a:endParaRPr lang="en-US" sz="1500" dirty="0"/>
          </a:p>
        </p:txBody>
      </p:sp>
      <p:sp>
        <p:nvSpPr>
          <p:cNvPr id="13" name="Limitación Dependencia de Ollama"/>
          <p:cNvSpPr/>
          <p:nvPr/>
        </p:nvSpPr>
        <p:spPr>
          <a:xfrm>
            <a:off x="640080" y="39776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Dependencia de Ollam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519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4630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Ollama</a:t>
            </a:r>
            <a:endParaRPr lang="en-US" sz="19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instalador no incluye los modelos; deben instalarse aparte en cada computador.</a:t>
            </a:r>
            <a:endParaRPr lang="en-US" sz="1500" dirty="0"/>
          </a:p>
        </p:txBody>
      </p:sp>
      <p:sp>
        <p:nvSpPr>
          <p:cNvPr id="17" name="Limitación Rendimiento variable"/>
          <p:cNvSpPr/>
          <p:nvPr/>
        </p:nvSpPr>
        <p:spPr>
          <a:xfrm>
            <a:off x="6217920" y="397764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Rendimiento variab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2519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4088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variable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6492240" y="48463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y calidad dependen del modelo, del hardware y de los fragmentos recuperados.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640080" y="27432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74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falta para cerrar el proyecto</a:t>
            </a:r>
            <a:endParaRPr lang="en-US" sz="3400" dirty="0"/>
          </a:p>
        </p:txBody>
      </p:sp>
      <p:sp>
        <p:nvSpPr>
          <p:cNvPr id="5" name="Paso siguiente 1"/>
          <p:cNvSpPr/>
          <p:nvPr/>
        </p:nvSpPr>
        <p:spPr>
          <a:xfrm>
            <a:off x="640080" y="182880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Círculo ícono"/>
          <p:cNvSpPr/>
          <p:nvPr/>
        </p:nvSpPr>
        <p:spPr>
          <a:xfrm>
            <a:off x="914400" y="2103120"/>
            <a:ext cx="685800" cy="685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7" name="Image 0" descr="Verificar la privacida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2768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Verificar la privacidad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Capturar el tráfico de red durante un uso normal y comprobar que no hay conexiones externas.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Héctor y Ignacio</a:t>
            </a:r>
            <a:endParaRPr lang="en-US" sz="1300" dirty="0"/>
          </a:p>
        </p:txBody>
      </p:sp>
      <p:sp>
        <p:nvSpPr>
          <p:cNvPr id="11" name="Paso siguiente 2"/>
          <p:cNvSpPr/>
          <p:nvPr/>
        </p:nvSpPr>
        <p:spPr>
          <a:xfrm>
            <a:off x="4370832" y="182880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Círculo ícono"/>
          <p:cNvSpPr/>
          <p:nvPr/>
        </p:nvSpPr>
        <p:spPr>
          <a:xfrm>
            <a:off x="4645152" y="2103120"/>
            <a:ext cx="685800" cy="685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3" name="Image 1" descr="Evaluar el desempeñ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276856"/>
            <a:ext cx="338328" cy="33832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45152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Evaluar el desempeño</a:t>
            </a:r>
            <a:endParaRPr lang="en-US" sz="2100" dirty="0"/>
          </a:p>
        </p:txBody>
      </p:sp>
      <p:sp>
        <p:nvSpPr>
          <p:cNvPr id="15" name="Text 11"/>
          <p:cNvSpPr txBox="1"/>
          <p:nvPr/>
        </p:nvSpPr>
        <p:spPr>
          <a:xfrm>
            <a:off x="4645152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aciertos con fuente correcta y tiempos de respuesta con un set de preguntas de prueba.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4645152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</a:t>
            </a:r>
            <a:r>
              <a:rPr lang="en-US" sz="1300" b="1" dirty="0" smtClean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equipo</a:t>
            </a:r>
            <a:endParaRPr lang="en-US" sz="1300" dirty="0"/>
          </a:p>
        </p:txBody>
      </p:sp>
      <p:sp>
        <p:nvSpPr>
          <p:cNvPr id="17" name="Paso siguiente 3"/>
          <p:cNvSpPr/>
          <p:nvPr/>
        </p:nvSpPr>
        <p:spPr>
          <a:xfrm>
            <a:off x="8101584" y="1828800"/>
            <a:ext cx="3474720" cy="4023360"/>
          </a:xfrm>
          <a:prstGeom prst="roundRect">
            <a:avLst>
              <a:gd name="adj" fmla="val 2632"/>
            </a:avLst>
          </a:prstGeom>
          <a:solidFill>
            <a:srgbClr val="F5F7FC"/>
          </a:solidFill>
          <a:ln w="12700">
            <a:solidFill>
              <a:srgbClr val="E8EBF5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Círculo ícono"/>
          <p:cNvSpPr/>
          <p:nvPr/>
        </p:nvSpPr>
        <p:spPr>
          <a:xfrm>
            <a:off x="8375904" y="2103120"/>
            <a:ext cx="685800" cy="6858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9" name="Image 2" descr="Cerrar el instalado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2276856"/>
            <a:ext cx="338328" cy="33832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75904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 el instalador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8375904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el ejecutable de Windows en computadores con distintos recursos.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375904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Responsable: </a:t>
            </a:r>
            <a:r>
              <a:rPr lang="en-US" sz="1300" b="1" dirty="0" err="1" smtClean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5A608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611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Vexa Local — el asistente de IA que se queda dentro de tu empresa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937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577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Héctor Schulz   ·   Ignacio López   ·   Josué García</a:t>
            </a:r>
            <a:endParaRPr lang="en-US" sz="1600" dirty="0"/>
          </a:p>
        </p:txBody>
      </p:sp>
      <p:sp>
        <p:nvSpPr>
          <p:cNvPr id="6" name="Decoración"/>
          <p:cNvSpPr/>
          <p:nvPr/>
        </p:nvSpPr>
        <p:spPr>
          <a:xfrm>
            <a:off x="8778240" y="-1097280"/>
            <a:ext cx="5029200" cy="5029200"/>
          </a:xfrm>
          <a:prstGeom prst="ellipse">
            <a:avLst/>
          </a:prstGeom>
          <a:solidFill>
            <a:srgbClr val="141A45"/>
          </a:solidFill>
          <a:ln w="12700">
            <a:solidFill>
              <a:srgbClr val="141A45"/>
            </a:solidFill>
            <a:prstDash val="solid"/>
          </a:ln>
        </p:spPr>
      </p:sp>
      <p:sp>
        <p:nvSpPr>
          <p:cNvPr id="7" name="Decoración"/>
          <p:cNvSpPr/>
          <p:nvPr/>
        </p:nvSpPr>
        <p:spPr>
          <a:xfrm>
            <a:off x="10058400" y="4480560"/>
            <a:ext cx="3657600" cy="3657600"/>
          </a:xfrm>
          <a:prstGeom prst="ellipse">
            <a:avLst/>
          </a:prstGeom>
          <a:solidFill>
            <a:srgbClr val="252C6B"/>
          </a:solidFill>
          <a:ln w="12700">
            <a:solidFill>
              <a:srgbClr val="252C6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Vexa">
  <a:themeElements>
    <a:clrScheme name="Vexa">
      <a:dk1>
        <a:srgbClr val="1B1F3B"/>
      </a:dk1>
      <a:lt1>
        <a:srgbClr val="FFFFFF"/>
      </a:lt1>
      <a:dk2>
        <a:srgbClr val="1E2761"/>
      </a:dk2>
      <a:lt2>
        <a:srgbClr val="F5F7FC"/>
      </a:lt2>
      <a:accent1>
        <a:srgbClr val="00A896"/>
      </a:accent1>
      <a:accent2>
        <a:srgbClr val="252C6B"/>
      </a:accent2>
      <a:accent3>
        <a:srgbClr val="F2C14E"/>
      </a:accent3>
      <a:accent4>
        <a:srgbClr val="E15554"/>
      </a:accent4>
      <a:accent5>
        <a:srgbClr val="43AA8B"/>
      </a:accent5>
      <a:accent6>
        <a:srgbClr val="141A45"/>
      </a:accent6>
      <a:hlink>
        <a:srgbClr val="00A896"/>
      </a:hlink>
      <a:folHlink>
        <a:srgbClr val="252C6B"/>
      </a:folHlink>
    </a:clrScheme>
    <a:fontScheme name="Vex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1066</Words>
  <Application>Microsoft Office PowerPoint</Application>
  <PresentationFormat>Panorámica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Vexa</vt:lpstr>
      <vt:lpstr>Vexa Local</vt:lpstr>
      <vt:lpstr>De la definición a un prototipo funcional</vt:lpstr>
      <vt:lpstr>Cómo está construido</vt:lpstr>
      <vt:lpstr>Qué pasa cuando un abogado pregunta</vt:lpstr>
      <vt:lpstr>Dos roles, un mismo expediente</vt:lpstr>
      <vt:lpstr>Protección de la información</vt:lpstr>
      <vt:lpstr>Lo que cambió y por qué</vt:lpstr>
      <vt:lpstr>10 de 15 actividades completadas</vt:lpstr>
      <vt:lpstr>Un prototipo local, y lo decimos con claridad</vt:lpstr>
      <vt:lpstr>Qué falta para cerrar el proyecto</vt:lpstr>
      <vt:lpstr>Gracias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Vexa Local — Fase 2</dc:title>
  <dc:subject>PptxGenJS Presentation</dc:subject>
  <dc:creator>Héctor Schulz, Ignacio López, Josué García</dc:creator>
  <cp:lastModifiedBy>Eduardo Antonio López Ríos</cp:lastModifiedBy>
  <cp:revision>2</cp:revision>
  <dcterms:created xsi:type="dcterms:W3CDTF">2026-10-15T03:13:34Z</dcterms:created>
  <dcterms:modified xsi:type="dcterms:W3CDTF">2026-10-15T03:19:38Z</dcterms:modified>
</cp:coreProperties>
</file>